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0:00–4:00
Opening frame: most developers use Codex as a chat box that happens to sit in a terminal. This session is the configuration layer underneath it: what the agent is allowed to touch, what it reads first, and where the work runs.
Who it's for: you've installed Codex and asked it to fix a bug, you approve every prompt by hand, you've heard of AGENTS.md but never checked it's read, and you're not sure when to use the cloud. Nobody needs to have written a config file.
Read the four take-aways out loud.
DEMO 0 (3:00–4:00): run npm run test:run, 12 pass. Open 'Backfill release checklist' in the browser, the board white-screens. Line: 'Green tests, broken app. That's the repository we're about to hand to an agent. How much should it be allowed to touch?'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4:00–8:00, then DEMO 1 8:00–15:00
Two independent questions. Rows: what can it touch? Columns: when it wants to cross a line, who answers? You (on-request), a reviewer agent (auto-review, --approve-for-me), or nobody (never).
Say it twice: sandbox is blast radius, approval is interruptions. A tight sandbox with 'never' is still safe. A loose sandbox with 'never' is not.
Be honest that most of the nine aren't worth using. Counting to nine and finding three worth using is the lesson; the skill is choosing, not memorising.
If asked: 'untrusted' is deprecated in current Codex; use on-request.
DEMO 1: (1) read-only + never, ask for the crash fix, it can't write. (2) /permissions to workspace-write + on-request, it fixes and tests with no prompts. (3) ask it to run npm view react version, it asks you. (4) restart with --approve-for-me, same request, a reviewer agent answers. Name danger-full-access + never (--yolo), don't run it. Recovery: Ctrl+C, git reset --hard origin/demo/needs-work.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15:00–18:00, then DEMO 2 18:00–22:00
It's the file the agent reads before your prompt. Codex reads AGENTS.md from the git root down to the folder you started in and joins them in that order. A file in a folder below where you started isn't loaded. That's the 'my AGENTS.md is being ignored' report juniors won't diagnose on their own. Check discovery before you debug the content.
What belongs: exact commands, conventions you can't see from the code, folders to leave alone, what done means. Not a README rewrite or a pasted style guide. Treat it as a prompt you refine over weeks, not documentation you write once.
DEMO 2: show the root AGENTS.md beside docs/presentation/examples/AGENTS.bloated.md on GitHub (the tight one produces better results, which surprises people). Start codex at the root and ask it to list its instructions without opening files: nothing about components. Quit, cd src/components, same prompt: the component rules appear, including 'Component rules loaded.'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22:00–25:00, then DEMO 3 25:00–30:00
One agent, three surfaces. The judgment call: offload work that is well specified and slow; keep work that needs your eyes, local state, or fast iteration. Ask the room what they'd offload. Good answers: dependency bumps, test backfill, mechanical refactors.
Two phases: setup runs your script with internet and secrets; secrets are removed; the agent phase has no network by default, but environment variables remain. So install dependencies in setup, not in the task. This is the highest-value slide for anyone who's hit a confusing cloud failure; budget an extra minute for questions.
Failure mode to name: offloading work that needed your local database.
DEMO 3: show the environment settings (setup npm ci, agent internet off). Start Task A first (fix the crash + missing regression test) and leave it running. Start Task B (run npm view react version): it fails with a network error. Line: 'Task B didn't break. It's working exactly as configured.'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30:00–31:30, then DEMO 4 31:30–34:00, then questions
Codex reviews pull requests and follows the Code Review Rules in AGENTS.md, automatically or when you comment @codex review. Run it before a human sees the branch. Emphasise critical reading: the failure mode for juniors is accepting every suggestion, which is how you get worse code with more confidence.
Model lanes: Luna for mechanical work, Terra for everyday repository work, Sol for debugging and ambiguity, Astra for long multi-tool work. Don't read version numbers aloud; they date the recording. Profiles are files in ~/.codex, selected with codex -p.
Failure modes: trusting an agent's own claim that the tests pass (point at the CI check), and one long thread doing four unrelated tasks (every demo today started fresh).
DEMO 4: create the pull request from Task A against demo/needs-work; the automatic review posts (or comment @codex review); read one finding aloud and say whether you agree. If time: codex -p fast for a mechanical rename.
Close: 'Configure the leash once, and the agent stops needing supervision for the boring 80%.'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6375" y="574315"/>
            <a:ext cx="21123" cy="21123"/>
          </a:xfrm>
          <a:prstGeom prst="ellipse">
            <a:avLst/>
          </a:prstGeom>
          <a:solidFill>
            <a:srgbClr val="FFB547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37891" y="6635712"/>
            <a:ext cx="20642" cy="20642"/>
          </a:xfrm>
          <a:prstGeom prst="ellipse">
            <a:avLst/>
          </a:prstGeom>
          <a:solidFill>
            <a:srgbClr val="C8D2E8">
              <a:alpha val="41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85181" y="358495"/>
            <a:ext cx="26242" cy="26242"/>
          </a:xfrm>
          <a:prstGeom prst="ellipse">
            <a:avLst/>
          </a:prstGeom>
          <a:solidFill>
            <a:srgbClr val="C8D2E8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339966" y="592234"/>
            <a:ext cx="39270" cy="39270"/>
          </a:xfrm>
          <a:prstGeom prst="ellipse">
            <a:avLst/>
          </a:prstGeom>
          <a:solidFill>
            <a:srgbClr val="C8D2E8">
              <a:alpha val="21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3435046" y="6616629"/>
            <a:ext cx="44662" cy="44662"/>
          </a:xfrm>
          <a:prstGeom prst="ellipse">
            <a:avLst/>
          </a:prstGeom>
          <a:solidFill>
            <a:srgbClr val="FFB547">
              <a:alpha val="2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10836" y="562826"/>
            <a:ext cx="46633" cy="46633"/>
          </a:xfrm>
          <a:prstGeom prst="ellipse">
            <a:avLst/>
          </a:prstGeom>
          <a:solidFill>
            <a:srgbClr val="C8D2E8">
              <a:alpha val="29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544937" y="780057"/>
            <a:ext cx="40126" cy="40126"/>
          </a:xfrm>
          <a:prstGeom prst="ellipse">
            <a:avLst/>
          </a:prstGeom>
          <a:solidFill>
            <a:srgbClr val="C8D2E8">
              <a:alpha val="1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021345" y="6215499"/>
            <a:ext cx="57492" cy="57492"/>
          </a:xfrm>
          <a:prstGeom prst="ellipse">
            <a:avLst/>
          </a:prstGeom>
          <a:solidFill>
            <a:srgbClr val="C8D2E8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3459" y="6230458"/>
            <a:ext cx="51732" cy="51732"/>
          </a:xfrm>
          <a:prstGeom prst="ellipse">
            <a:avLst/>
          </a:prstGeom>
          <a:solidFill>
            <a:srgbClr val="C8D2E8">
              <a:alpha val="31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932095" y="351352"/>
            <a:ext cx="42179" cy="42179"/>
          </a:xfrm>
          <a:prstGeom prst="ellipse">
            <a:avLst/>
          </a:prstGeom>
          <a:solidFill>
            <a:srgbClr val="FFB547">
              <a:alpha val="3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456305" y="759047"/>
            <a:ext cx="36398" cy="36398"/>
          </a:xfrm>
          <a:prstGeom prst="ellipse">
            <a:avLst/>
          </a:prstGeom>
          <a:solidFill>
            <a:srgbClr val="C8D2E8">
              <a:alpha val="29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682981" y="6401068"/>
            <a:ext cx="56836" cy="56836"/>
          </a:xfrm>
          <a:prstGeom prst="ellipse">
            <a:avLst/>
          </a:prstGeom>
          <a:solidFill>
            <a:srgbClr val="C8D2E8">
              <a:alpha val="21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06267" y="1308711"/>
            <a:ext cx="34457" cy="34457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20499" y="414111"/>
            <a:ext cx="25956" cy="25956"/>
          </a:xfrm>
          <a:prstGeom prst="ellipse">
            <a:avLst/>
          </a:prstGeom>
          <a:solidFill>
            <a:srgbClr val="C8D2E8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4587752" y="261644"/>
            <a:ext cx="38877" cy="38877"/>
          </a:xfrm>
          <a:prstGeom prst="ellipse">
            <a:avLst/>
          </a:prstGeom>
          <a:solidFill>
            <a:srgbClr val="C8D2E8">
              <a:alpha val="2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996975" y="6315983"/>
            <a:ext cx="49885" cy="49885"/>
          </a:xfrm>
          <a:prstGeom prst="ellipse">
            <a:avLst/>
          </a:prstGeom>
          <a:solidFill>
            <a:srgbClr val="C8D2E8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737092" y="6607573"/>
            <a:ext cx="21262" cy="21262"/>
          </a:xfrm>
          <a:prstGeom prst="ellipse">
            <a:avLst/>
          </a:prstGeom>
          <a:solidFill>
            <a:srgbClr val="C8D2E8">
              <a:alpha val="4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694463" y="6369189"/>
            <a:ext cx="54669" cy="54669"/>
          </a:xfrm>
          <a:prstGeom prst="ellipse">
            <a:avLst/>
          </a:prstGeom>
          <a:solidFill>
            <a:srgbClr val="C8D2E8">
              <a:alpha val="1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327789" y="495024"/>
            <a:ext cx="46358" cy="46358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569312" y="336823"/>
            <a:ext cx="50573" cy="50573"/>
          </a:xfrm>
          <a:prstGeom prst="ellipse">
            <a:avLst/>
          </a:prstGeom>
          <a:solidFill>
            <a:srgbClr val="C8D2E8">
              <a:alpha val="11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10489" y="201949"/>
            <a:ext cx="56450" cy="56450"/>
          </a:xfrm>
          <a:prstGeom prst="ellipse">
            <a:avLst/>
          </a:prstGeom>
          <a:solidFill>
            <a:srgbClr val="C8D2E8">
              <a:alpha val="3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99401" y="406163"/>
            <a:ext cx="28406" cy="28406"/>
          </a:xfrm>
          <a:prstGeom prst="ellipse">
            <a:avLst/>
          </a:prstGeom>
          <a:solidFill>
            <a:srgbClr val="C8D2E8">
              <a:alpha val="2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947865" y="195830"/>
            <a:ext cx="33168" cy="33168"/>
          </a:xfrm>
          <a:prstGeom prst="ellipse">
            <a:avLst/>
          </a:prstGeom>
          <a:solidFill>
            <a:srgbClr val="C8D2E8">
              <a:alpha val="3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242766" y="6406221"/>
            <a:ext cx="55013" cy="55013"/>
          </a:xfrm>
          <a:prstGeom prst="ellipse">
            <a:avLst/>
          </a:prstGeom>
          <a:solidFill>
            <a:srgbClr val="C8D2E8">
              <a:alpha val="2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3718" y="1258138"/>
            <a:ext cx="38668" cy="38668"/>
          </a:xfrm>
          <a:prstGeom prst="ellipse">
            <a:avLst/>
          </a:prstGeom>
          <a:solidFill>
            <a:srgbClr val="C8D2E8">
              <a:alpha val="2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290147" y="6248195"/>
            <a:ext cx="27331" cy="27331"/>
          </a:xfrm>
          <a:prstGeom prst="ellipse">
            <a:avLst/>
          </a:prstGeom>
          <a:solidFill>
            <a:srgbClr val="C8D2E8">
              <a:alpha val="2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362530" y="477477"/>
            <a:ext cx="37052" cy="37052"/>
          </a:xfrm>
          <a:prstGeom prst="ellipse">
            <a:avLst/>
          </a:prstGeom>
          <a:solidFill>
            <a:srgbClr val="C8D2E8">
              <a:alpha val="4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928286" y="248068"/>
            <a:ext cx="38350" cy="38350"/>
          </a:xfrm>
          <a:prstGeom prst="ellipse">
            <a:avLst/>
          </a:prstGeom>
          <a:solidFill>
            <a:srgbClr val="C8D2E8">
              <a:alpha val="2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931276" y="574996"/>
            <a:ext cx="38465" cy="38465"/>
          </a:xfrm>
          <a:prstGeom prst="ellipse">
            <a:avLst/>
          </a:prstGeom>
          <a:solidFill>
            <a:srgbClr val="C8D2E8">
              <a:alpha val="3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70559" y="6286500"/>
            <a:ext cx="28177" cy="28177"/>
          </a:xfrm>
          <a:prstGeom prst="ellipse">
            <a:avLst/>
          </a:prstGeom>
          <a:solidFill>
            <a:srgbClr val="C8D2E8">
              <a:alpha val="3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961086" y="6666119"/>
            <a:ext cx="46273" cy="46273"/>
          </a:xfrm>
          <a:prstGeom prst="ellipse">
            <a:avLst/>
          </a:prstGeom>
          <a:solidFill>
            <a:srgbClr val="C8D2E8">
              <a:alpha val="4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750638" y="6438132"/>
            <a:ext cx="45991" cy="45991"/>
          </a:xfrm>
          <a:prstGeom prst="ellipse">
            <a:avLst/>
          </a:prstGeom>
          <a:solidFill>
            <a:srgbClr val="C8D2E8">
              <a:alpha val="43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13808" y="5635152"/>
            <a:ext cx="53028" cy="53028"/>
          </a:xfrm>
          <a:prstGeom prst="ellipse">
            <a:avLst/>
          </a:prstGeom>
          <a:solidFill>
            <a:srgbClr val="FFB547">
              <a:alpha val="2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93809" y="6253142"/>
            <a:ext cx="50907" cy="50907"/>
          </a:xfrm>
          <a:prstGeom prst="ellipse">
            <a:avLst/>
          </a:prstGeom>
          <a:solidFill>
            <a:srgbClr val="C8D2E8">
              <a:alpha val="3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0454904" y="659177"/>
            <a:ext cx="26586" cy="26586"/>
          </a:xfrm>
          <a:prstGeom prst="ellipse">
            <a:avLst/>
          </a:prstGeom>
          <a:solidFill>
            <a:srgbClr val="C8D2E8">
              <a:alpha val="41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827594" y="6653747"/>
            <a:ext cx="31200" cy="31200"/>
          </a:xfrm>
          <a:prstGeom prst="ellipse">
            <a:avLst/>
          </a:prstGeom>
          <a:solidFill>
            <a:srgbClr val="C8D2E8">
              <a:alpha val="4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1461320" y="281893"/>
            <a:ext cx="27378" cy="27378"/>
          </a:xfrm>
          <a:prstGeom prst="ellipse">
            <a:avLst/>
          </a:prstGeom>
          <a:solidFill>
            <a:srgbClr val="C8D2E8">
              <a:alpha val="21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90473" y="5506711"/>
            <a:ext cx="43093" cy="43093"/>
          </a:xfrm>
          <a:prstGeom prst="ellipse">
            <a:avLst/>
          </a:prstGeom>
          <a:solidFill>
            <a:srgbClr val="C8D2E8">
              <a:alpha val="4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365592" y="299938"/>
            <a:ext cx="46479" cy="46479"/>
          </a:xfrm>
          <a:prstGeom prst="ellipse">
            <a:avLst/>
          </a:prstGeom>
          <a:solidFill>
            <a:srgbClr val="C8D2E8">
              <a:alpha val="2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403018" y="6587764"/>
            <a:ext cx="18857" cy="18857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117101" y="678674"/>
            <a:ext cx="35730" cy="35730"/>
          </a:xfrm>
          <a:prstGeom prst="ellipse">
            <a:avLst/>
          </a:prstGeom>
          <a:solidFill>
            <a:srgbClr val="C8D2E8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236894" y="4857665"/>
            <a:ext cx="52538" cy="52538"/>
          </a:xfrm>
          <a:prstGeom prst="ellipse">
            <a:avLst/>
          </a:prstGeom>
          <a:solidFill>
            <a:srgbClr val="C8D2E8">
              <a:alpha val="11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968779" y="313432"/>
            <a:ext cx="54299" cy="54299"/>
          </a:xfrm>
          <a:prstGeom prst="ellipse">
            <a:avLst/>
          </a:prstGeom>
          <a:solidFill>
            <a:srgbClr val="C8D2E8">
              <a:alpha val="4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070666" y="186827"/>
            <a:ext cx="29567" cy="29567"/>
          </a:xfrm>
          <a:prstGeom prst="ellipse">
            <a:avLst/>
          </a:prstGeom>
          <a:solidFill>
            <a:srgbClr val="C8D2E8">
              <a:alpha val="4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78040" y="1051560"/>
            <a:ext cx="4754880" cy="4754880"/>
          </a:xfrm>
          <a:prstGeom prst="ellipse">
            <a:avLst/>
          </a:prstGeom>
          <a:solidFill>
            <a:srgbClr val="0B1026">
              <a:alpha val="0"/>
            </a:srgbClr>
          </a:solidFill>
          <a:ln w="15875">
            <a:solidFill>
              <a:srgbClr val="A78BFA">
                <a:alpha val="3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772400" y="1645920"/>
            <a:ext cx="3566160" cy="3566160"/>
          </a:xfrm>
          <a:prstGeom prst="ellipse">
            <a:avLst/>
          </a:prstGeom>
          <a:solidFill>
            <a:srgbClr val="0B1026">
              <a:alpha val="0"/>
            </a:srgbClr>
          </a:solidFill>
          <a:ln w="12700">
            <a:solidFill>
              <a:srgbClr val="C8D2E8">
                <a:alpha val="2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348472" y="2221992"/>
            <a:ext cx="548640" cy="548640"/>
          </a:xfrm>
          <a:prstGeom prst="ellipse">
            <a:avLst/>
          </a:prstGeom>
          <a:solidFill>
            <a:srgbClr val="1B2449"/>
          </a:solidFill>
          <a:ln w="12700">
            <a:solidFill>
              <a:srgbClr val="2B366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281160" y="2221992"/>
            <a:ext cx="548640" cy="548640"/>
          </a:xfrm>
          <a:prstGeom prst="ellipse">
            <a:avLst/>
          </a:prstGeom>
          <a:solidFill>
            <a:srgbClr val="1B2449"/>
          </a:solidFill>
          <a:ln w="12700">
            <a:solidFill>
              <a:srgbClr val="2B366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213848" y="2221992"/>
            <a:ext cx="548640" cy="548640"/>
          </a:xfrm>
          <a:prstGeom prst="ellipse">
            <a:avLst/>
          </a:prstGeom>
          <a:solidFill>
            <a:srgbClr val="4FD1A5">
              <a:alpha val="7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293608" y="3099816"/>
            <a:ext cx="658368" cy="65836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52" name="Shape 50"/>
          <p:cNvSpPr/>
          <p:nvPr/>
        </p:nvSpPr>
        <p:spPr>
          <a:xfrm>
            <a:off x="9281160" y="3154680"/>
            <a:ext cx="548640" cy="548640"/>
          </a:xfrm>
          <a:prstGeom prst="ellipse">
            <a:avLst/>
          </a:prstGeom>
          <a:solidFill>
            <a:srgbClr val="1B2449"/>
          </a:solidFill>
          <a:ln w="12700">
            <a:solidFill>
              <a:srgbClr val="2B36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213848" y="3154680"/>
            <a:ext cx="548640" cy="548640"/>
          </a:xfrm>
          <a:prstGeom prst="ellipse">
            <a:avLst/>
          </a:prstGeom>
          <a:solidFill>
            <a:srgbClr val="4FD1A5">
              <a:alpha val="7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348472" y="4087368"/>
            <a:ext cx="548640" cy="548640"/>
          </a:xfrm>
          <a:prstGeom prst="ellipse">
            <a:avLst/>
          </a:prstGeom>
          <a:solidFill>
            <a:srgbClr val="1B2449"/>
          </a:solidFill>
          <a:ln w="12700">
            <a:solidFill>
              <a:srgbClr val="2B36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281160" y="4087368"/>
            <a:ext cx="548640" cy="548640"/>
          </a:xfrm>
          <a:prstGeom prst="ellipse">
            <a:avLst/>
          </a:prstGeom>
          <a:solidFill>
            <a:srgbClr val="1B2449"/>
          </a:solidFill>
          <a:ln w="12700">
            <a:solidFill>
              <a:srgbClr val="2B36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213848" y="4087368"/>
            <a:ext cx="548640" cy="548640"/>
          </a:xfrm>
          <a:prstGeom prst="ellipse">
            <a:avLst/>
          </a:prstGeom>
          <a:solidFill>
            <a:srgbClr val="FF6B6B">
              <a:alpha val="20000"/>
            </a:srgbClr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48640" y="6858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· A 40-MINUTE GUIDE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1005840"/>
            <a:ext cx="6492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Ways to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 Agent</a:t>
            </a:r>
            <a:endParaRPr lang="en-US" sz="5200" dirty="0"/>
          </a:p>
        </p:txBody>
      </p:sp>
      <p:sp>
        <p:nvSpPr>
          <p:cNvPr id="59" name="Text 57"/>
          <p:cNvSpPr txBox="1"/>
          <p:nvPr/>
        </p:nvSpPr>
        <p:spPr>
          <a:xfrm>
            <a:off x="548640" y="283464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Sandboxes, AGENTS.md, and cloud tasks</a:t>
            </a:r>
            <a:endParaRPr lang="en-US" sz="22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333756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8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run Codex. You haven't configured it.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LEAVE WITH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66928" y="4544568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8680" y="443484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sandbox and approval default you can defend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566928" y="4928616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8680" y="48188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AGENTS.md that Codex actually reads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566928" y="5312664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868680" y="5202936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for choosing local or cloud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566928" y="5696712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68680" y="5586984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habit for your own pull requests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7802575" y="5980176"/>
            <a:ext cx="3840480" cy="420624"/>
          </a:xfrm>
          <a:prstGeom prst="roundRect">
            <a:avLst>
              <a:gd name="adj" fmla="val 50000"/>
            </a:avLst>
          </a:prstGeom>
          <a:solidFill>
            <a:srgbClr val="1B2449"/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985455" y="6126480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8214055" y="5980176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LIVE DEMO   </a:t>
            </a:r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4618" y="577183"/>
            <a:ext cx="41400" cy="41400"/>
          </a:xfrm>
          <a:prstGeom prst="ellipse">
            <a:avLst/>
          </a:prstGeom>
          <a:solidFill>
            <a:srgbClr val="C8D2E8">
              <a:alpha val="3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945413" y="675124"/>
            <a:ext cx="35356" cy="35356"/>
          </a:xfrm>
          <a:prstGeom prst="ellipse">
            <a:avLst/>
          </a:prstGeom>
          <a:solidFill>
            <a:srgbClr val="FFB547">
              <a:alpha val="2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09522" y="448091"/>
            <a:ext cx="40048" cy="40048"/>
          </a:xfrm>
          <a:prstGeom prst="ellipse">
            <a:avLst/>
          </a:prstGeom>
          <a:solidFill>
            <a:srgbClr val="C8D2E8">
              <a:alpha val="2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87647" y="531217"/>
            <a:ext cx="34139" cy="34139"/>
          </a:xfrm>
          <a:prstGeom prst="ellipse">
            <a:avLst/>
          </a:prstGeom>
          <a:solidFill>
            <a:srgbClr val="C8D2E8">
              <a:alpha val="41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824547" y="2317912"/>
            <a:ext cx="56028" cy="56028"/>
          </a:xfrm>
          <a:prstGeom prst="ellipse">
            <a:avLst/>
          </a:prstGeom>
          <a:solidFill>
            <a:srgbClr val="C8D2E8">
              <a:alpha val="1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202199" y="391205"/>
            <a:ext cx="57146" cy="57146"/>
          </a:xfrm>
          <a:prstGeom prst="ellipse">
            <a:avLst/>
          </a:prstGeom>
          <a:solidFill>
            <a:srgbClr val="C8D2E8">
              <a:alpha val="2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234100" y="237206"/>
            <a:ext cx="43436" cy="43436"/>
          </a:xfrm>
          <a:prstGeom prst="ellipse">
            <a:avLst/>
          </a:prstGeom>
          <a:solidFill>
            <a:srgbClr val="C8D2E8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187762" y="1190793"/>
            <a:ext cx="53481" cy="53481"/>
          </a:xfrm>
          <a:prstGeom prst="ellipse">
            <a:avLst/>
          </a:prstGeom>
          <a:solidFill>
            <a:srgbClr val="C8D2E8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44051" y="6091806"/>
            <a:ext cx="28872" cy="28872"/>
          </a:xfrm>
          <a:prstGeom prst="ellipse">
            <a:avLst/>
          </a:prstGeom>
          <a:solidFill>
            <a:srgbClr val="C8D2E8">
              <a:alpha val="41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183969" y="1389099"/>
            <a:ext cx="20251" cy="20251"/>
          </a:xfrm>
          <a:prstGeom prst="ellipse">
            <a:avLst/>
          </a:prstGeom>
          <a:solidFill>
            <a:srgbClr val="C8D2E8">
              <a:alpha val="2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41719" y="861161"/>
            <a:ext cx="19830" cy="19830"/>
          </a:xfrm>
          <a:prstGeom prst="ellipse">
            <a:avLst/>
          </a:prstGeom>
          <a:solidFill>
            <a:srgbClr val="C8D2E8">
              <a:alpha val="2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475905" y="859405"/>
            <a:ext cx="37614" cy="37614"/>
          </a:xfrm>
          <a:prstGeom prst="ellipse">
            <a:avLst/>
          </a:prstGeom>
          <a:solidFill>
            <a:srgbClr val="C8D2E8">
              <a:alpha val="3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430921" y="879902"/>
            <a:ext cx="47051" cy="47051"/>
          </a:xfrm>
          <a:prstGeom prst="ellipse">
            <a:avLst/>
          </a:prstGeom>
          <a:solidFill>
            <a:srgbClr val="C8D2E8">
              <a:alpha val="17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939674" y="212142"/>
            <a:ext cx="26982" cy="26982"/>
          </a:xfrm>
          <a:prstGeom prst="ellipse">
            <a:avLst/>
          </a:prstGeom>
          <a:solidFill>
            <a:srgbClr val="C8D2E8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238104" y="1697496"/>
            <a:ext cx="46879" cy="46879"/>
          </a:xfrm>
          <a:prstGeom prst="ellipse">
            <a:avLst/>
          </a:prstGeom>
          <a:solidFill>
            <a:srgbClr val="C8D2E8">
              <a:alpha val="3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172404" y="6607213"/>
            <a:ext cx="57427" cy="57427"/>
          </a:xfrm>
          <a:prstGeom prst="ellipse">
            <a:avLst/>
          </a:prstGeom>
          <a:solidFill>
            <a:srgbClr val="C8D2E8">
              <a:alpha val="3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152591" y="1504220"/>
            <a:ext cx="52091" cy="52091"/>
          </a:xfrm>
          <a:prstGeom prst="ellipse">
            <a:avLst/>
          </a:prstGeom>
          <a:solidFill>
            <a:srgbClr val="C8D2E8">
              <a:alpha val="3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874462" y="4715511"/>
            <a:ext cx="56048" cy="56048"/>
          </a:xfrm>
          <a:prstGeom prst="ellipse">
            <a:avLst/>
          </a:prstGeom>
          <a:solidFill>
            <a:srgbClr val="C8D2E8">
              <a:alpha val="19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639940" y="1693038"/>
            <a:ext cx="33563" cy="33563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543075" y="6633612"/>
            <a:ext cx="42451" cy="42451"/>
          </a:xfrm>
          <a:prstGeom prst="ellipse">
            <a:avLst/>
          </a:prstGeom>
          <a:solidFill>
            <a:srgbClr val="C8D2E8">
              <a:alpha val="4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95435" y="4942039"/>
            <a:ext cx="35090" cy="35090"/>
          </a:xfrm>
          <a:prstGeom prst="ellipse">
            <a:avLst/>
          </a:prstGeom>
          <a:solidFill>
            <a:srgbClr val="C8D2E8">
              <a:alpha val="3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4665" y="6377155"/>
            <a:ext cx="31809" cy="31809"/>
          </a:xfrm>
          <a:prstGeom prst="ellipse">
            <a:avLst/>
          </a:prstGeom>
          <a:solidFill>
            <a:srgbClr val="C8D2E8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90391" y="1670330"/>
            <a:ext cx="54342" cy="54342"/>
          </a:xfrm>
          <a:prstGeom prst="ellipse">
            <a:avLst/>
          </a:prstGeom>
          <a:solidFill>
            <a:srgbClr val="C8D2E8">
              <a:alpha val="19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381151" y="1184593"/>
            <a:ext cx="46146" cy="46146"/>
          </a:xfrm>
          <a:prstGeom prst="ellipse">
            <a:avLst/>
          </a:prstGeom>
          <a:solidFill>
            <a:srgbClr val="C8D2E8">
              <a:alpha val="2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921141" y="1731536"/>
            <a:ext cx="51264" cy="51264"/>
          </a:xfrm>
          <a:prstGeom prst="ellipse">
            <a:avLst/>
          </a:prstGeom>
          <a:solidFill>
            <a:srgbClr val="C8D2E8">
              <a:alpha val="1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9326781" y="757543"/>
            <a:ext cx="50232" cy="50232"/>
          </a:xfrm>
          <a:prstGeom prst="ellipse">
            <a:avLst/>
          </a:prstGeom>
          <a:solidFill>
            <a:srgbClr val="C8D2E8">
              <a:alpha val="2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364648" y="1484188"/>
            <a:ext cx="28224" cy="28224"/>
          </a:xfrm>
          <a:prstGeom prst="ellipse">
            <a:avLst/>
          </a:prstGeom>
          <a:solidFill>
            <a:srgbClr val="C8D2E8">
              <a:alpha val="33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362026" y="1381364"/>
            <a:ext cx="39742" cy="39742"/>
          </a:xfrm>
          <a:prstGeom prst="ellipse">
            <a:avLst/>
          </a:prstGeom>
          <a:solidFill>
            <a:srgbClr val="C8D2E8">
              <a:alpha val="33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2882" y="3735174"/>
            <a:ext cx="28570" cy="28570"/>
          </a:xfrm>
          <a:prstGeom prst="ellipse">
            <a:avLst/>
          </a:prstGeom>
          <a:solidFill>
            <a:srgbClr val="C8D2E8">
              <a:alpha val="36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411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× APPROVAL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combinations. Three you'll use.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is blast radius. Approval is interruptions. They're independent.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2103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↓   APPROVAL →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017520" y="193852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on-request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017520" y="22677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answer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852160" y="193852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auto-review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22677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reviewer agent answers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686800" y="193852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686800" y="22677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asked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498080" y="1947672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A78BFA">
              <a:alpha val="2200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498080" y="194767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289864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32278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don't touch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399592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workspace-write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43251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inside the project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09320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danger-full-access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42239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boundary at all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71800" y="269748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141B3A"/>
          </a:solidFill>
          <a:ln/>
        </p:spPr>
      </p:sp>
      <p:sp>
        <p:nvSpPr>
          <p:cNvPr id="50" name="Shape 48"/>
          <p:cNvSpPr/>
          <p:nvPr/>
        </p:nvSpPr>
        <p:spPr>
          <a:xfrm>
            <a:off x="5806440" y="269748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141B3A"/>
          </a:solidFill>
          <a:ln/>
        </p:spPr>
      </p:sp>
      <p:sp>
        <p:nvSpPr>
          <p:cNvPr id="51" name="Shape 49"/>
          <p:cNvSpPr/>
          <p:nvPr/>
        </p:nvSpPr>
        <p:spPr>
          <a:xfrm>
            <a:off x="8641080" y="269748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4FD1A5">
              <a:alpha val="20000"/>
            </a:srgbClr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842248" y="288036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 codebase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842248" y="32278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prompts, no risk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71800" y="379476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4FD1A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172968" y="39776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default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3172968" y="43251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sane starting point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5806440" y="379476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141B3A"/>
          </a:solidFill>
          <a:ln/>
        </p:spPr>
      </p:sp>
      <p:sp>
        <p:nvSpPr>
          <p:cNvPr id="58" name="Shape 56"/>
          <p:cNvSpPr/>
          <p:nvPr/>
        </p:nvSpPr>
        <p:spPr>
          <a:xfrm>
            <a:off x="8641080" y="379476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4FD1A5">
              <a:alpha val="20000"/>
            </a:srgbClr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842248" y="39776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Unattended runs</a:t>
            </a:r>
            <a:endParaRPr lang="en-US" sz="1800" dirty="0"/>
          </a:p>
        </p:txBody>
      </p:sp>
      <p:sp>
        <p:nvSpPr>
          <p:cNvPr id="60" name="Text 58"/>
          <p:cNvSpPr txBox="1"/>
          <p:nvPr/>
        </p:nvSpPr>
        <p:spPr>
          <a:xfrm>
            <a:off x="8842248" y="43251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isolated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2971800" y="489204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141B3A"/>
          </a:solidFill>
          <a:ln/>
        </p:spPr>
      </p:sp>
      <p:sp>
        <p:nvSpPr>
          <p:cNvPr id="62" name="Shape 60"/>
          <p:cNvSpPr/>
          <p:nvPr/>
        </p:nvSpPr>
        <p:spPr>
          <a:xfrm>
            <a:off x="5806440" y="489204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141B3A"/>
          </a:solidFill>
          <a:ln/>
        </p:spPr>
      </p:sp>
      <p:sp>
        <p:nvSpPr>
          <p:cNvPr id="63" name="Shape 61"/>
          <p:cNvSpPr/>
          <p:nvPr/>
        </p:nvSpPr>
        <p:spPr>
          <a:xfrm>
            <a:off x="8641080" y="4892040"/>
            <a:ext cx="2697480" cy="960120"/>
          </a:xfrm>
          <a:prstGeom prst="roundRect">
            <a:avLst>
              <a:gd name="adj" fmla="val 13333"/>
            </a:avLst>
          </a:prstGeom>
          <a:solidFill>
            <a:srgbClr val="FF6B6B">
              <a:alpha val="18000"/>
            </a:srgbClr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842248" y="50749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brakes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8842248" y="54223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to avoid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6053328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is deprecated: use on-request.   Switch live with /permissions.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7802575" y="5980176"/>
            <a:ext cx="3840480" cy="420624"/>
          </a:xfrm>
          <a:prstGeom prst="roundRect">
            <a:avLst>
              <a:gd name="adj" fmla="val 50000"/>
            </a:avLst>
          </a:prstGeom>
          <a:solidFill>
            <a:srgbClr val="1B2449"/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985455" y="6126480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214055" y="5980176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LIVE DEMO   </a:t>
            </a:r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and approvals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90382" y="6636289"/>
            <a:ext cx="43489" cy="43489"/>
          </a:xfrm>
          <a:prstGeom prst="ellipse">
            <a:avLst/>
          </a:prstGeom>
          <a:solidFill>
            <a:srgbClr val="C8D2E8">
              <a:alpha val="11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47508" y="2130574"/>
            <a:ext cx="31776" cy="31776"/>
          </a:xfrm>
          <a:prstGeom prst="ellipse">
            <a:avLst/>
          </a:prstGeom>
          <a:solidFill>
            <a:srgbClr val="C8D2E8">
              <a:alpha val="31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158433" y="6244162"/>
            <a:ext cx="53980" cy="53980"/>
          </a:xfrm>
          <a:prstGeom prst="ellipse">
            <a:avLst/>
          </a:prstGeom>
          <a:solidFill>
            <a:srgbClr val="C8D2E8">
              <a:alpha val="2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977073" y="433427"/>
            <a:ext cx="28105" cy="28105"/>
          </a:xfrm>
          <a:prstGeom prst="ellipse">
            <a:avLst/>
          </a:prstGeom>
          <a:solidFill>
            <a:srgbClr val="C8D2E8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129601" y="376786"/>
            <a:ext cx="58326" cy="58326"/>
          </a:xfrm>
          <a:prstGeom prst="ellipse">
            <a:avLst/>
          </a:prstGeom>
          <a:solidFill>
            <a:srgbClr val="C8D2E8">
              <a:alpha val="3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121812" y="6324549"/>
            <a:ext cx="22660" cy="22660"/>
          </a:xfrm>
          <a:prstGeom prst="ellipse">
            <a:avLst/>
          </a:prstGeom>
          <a:solidFill>
            <a:srgbClr val="C8D2E8">
              <a:alpha val="3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10168" y="6614631"/>
            <a:ext cx="47075" cy="47075"/>
          </a:xfrm>
          <a:prstGeom prst="ellipse">
            <a:avLst/>
          </a:prstGeom>
          <a:solidFill>
            <a:srgbClr val="C8D2E8">
              <a:alpha val="2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177716" y="1768030"/>
            <a:ext cx="24044" cy="24044"/>
          </a:xfrm>
          <a:prstGeom prst="ellipse">
            <a:avLst/>
          </a:prstGeom>
          <a:solidFill>
            <a:srgbClr val="C8D2E8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609954" y="6510087"/>
            <a:ext cx="43308" cy="43308"/>
          </a:xfrm>
          <a:prstGeom prst="ellipse">
            <a:avLst/>
          </a:prstGeom>
          <a:solidFill>
            <a:srgbClr val="FFB547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05855" y="5300396"/>
            <a:ext cx="44473" cy="44473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440238" y="6291946"/>
            <a:ext cx="19000" cy="19000"/>
          </a:xfrm>
          <a:prstGeom prst="ellipse">
            <a:avLst/>
          </a:prstGeom>
          <a:solidFill>
            <a:srgbClr val="C8D2E8">
              <a:alpha val="4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148038" y="6440610"/>
            <a:ext cx="38860" cy="38860"/>
          </a:xfrm>
          <a:prstGeom prst="ellipse">
            <a:avLst/>
          </a:prstGeom>
          <a:solidFill>
            <a:srgbClr val="FFB54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650226" y="1754720"/>
            <a:ext cx="55474" cy="55474"/>
          </a:xfrm>
          <a:prstGeom prst="ellipse">
            <a:avLst/>
          </a:prstGeom>
          <a:solidFill>
            <a:srgbClr val="C8D2E8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610917" y="1584340"/>
            <a:ext cx="18648" cy="18648"/>
          </a:xfrm>
          <a:prstGeom prst="ellipse">
            <a:avLst/>
          </a:prstGeom>
          <a:solidFill>
            <a:srgbClr val="FFB547">
              <a:alpha val="3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329489" y="6222644"/>
            <a:ext cx="19267" cy="19267"/>
          </a:xfrm>
          <a:prstGeom prst="ellipse">
            <a:avLst/>
          </a:prstGeom>
          <a:solidFill>
            <a:srgbClr val="C8D2E8">
              <a:alpha val="43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297173" y="6670834"/>
            <a:ext cx="39407" cy="39407"/>
          </a:xfrm>
          <a:prstGeom prst="ellipse">
            <a:avLst/>
          </a:prstGeom>
          <a:solidFill>
            <a:srgbClr val="C8D2E8">
              <a:alpha val="19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31270" y="6624968"/>
            <a:ext cx="50827" cy="50827"/>
          </a:xfrm>
          <a:prstGeom prst="ellipse">
            <a:avLst/>
          </a:prstGeom>
          <a:solidFill>
            <a:srgbClr val="C8D2E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986649" y="6381694"/>
            <a:ext cx="33641" cy="33641"/>
          </a:xfrm>
          <a:prstGeom prst="ellipse">
            <a:avLst/>
          </a:prstGeom>
          <a:solidFill>
            <a:srgbClr val="C8D2E8">
              <a:alpha val="4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305359" y="1190773"/>
            <a:ext cx="56787" cy="56787"/>
          </a:xfrm>
          <a:prstGeom prst="ellipse">
            <a:avLst/>
          </a:prstGeom>
          <a:solidFill>
            <a:srgbClr val="C8D2E8">
              <a:alpha val="1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713329" y="6219926"/>
            <a:ext cx="26733" cy="26733"/>
          </a:xfrm>
          <a:prstGeom prst="ellipse">
            <a:avLst/>
          </a:prstGeom>
          <a:solidFill>
            <a:srgbClr val="C8D2E8">
              <a:alpha val="21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287954" y="6166700"/>
            <a:ext cx="18408" cy="18408"/>
          </a:xfrm>
          <a:prstGeom prst="ellipse">
            <a:avLst/>
          </a:prstGeom>
          <a:solidFill>
            <a:srgbClr val="FFB547">
              <a:alpha val="2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179687" y="6625258"/>
            <a:ext cx="44532" cy="44532"/>
          </a:xfrm>
          <a:prstGeom prst="ellipse">
            <a:avLst/>
          </a:prstGeom>
          <a:solidFill>
            <a:srgbClr val="C8D2E8">
              <a:alpha val="4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08096" y="6648255"/>
            <a:ext cx="52397" cy="52397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813731" y="1165931"/>
            <a:ext cx="30788" cy="30788"/>
          </a:xfrm>
          <a:prstGeom prst="ellipse">
            <a:avLst/>
          </a:prstGeom>
          <a:solidFill>
            <a:srgbClr val="C8D2E8">
              <a:alpha val="16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411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is read before your prompt</a:t>
            </a:r>
            <a:endParaRPr lang="en-US" sz="36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loads it from the git root down to the folder you started in.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548640" y="2011680"/>
            <a:ext cx="5577840" cy="3017520"/>
          </a:xfrm>
          <a:prstGeom prst="roundRect">
            <a:avLst>
              <a:gd name="adj" fmla="val 4242"/>
            </a:avLst>
          </a:prstGeom>
          <a:solidFill>
            <a:srgbClr val="141B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2176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files load?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611880" y="22128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root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22128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 components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26974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2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sprintboard-webinar/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31546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AGENTS.md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3657600" y="317296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4FD1A5">
              <a:alpha val="2200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657600" y="31729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846320" y="317296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4FD1A5">
              <a:alpha val="2200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46320" y="31729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77240" y="36118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2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src/components/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40690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AGENTS.md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3657600" y="408736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F6B6B">
              <a:alpha val="2200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657600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loaded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846320" y="408736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4FD1A5">
              <a:alpha val="2200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846320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455371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closer to where you started are added later, so they win.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48640" y="5212080"/>
            <a:ext cx="5577840" cy="713232"/>
          </a:xfrm>
          <a:prstGeom prst="roundRect">
            <a:avLst>
              <a:gd name="adj" fmla="val 17949"/>
            </a:avLst>
          </a:prstGeom>
          <a:solidFill>
            <a:srgbClr val="1B2449"/>
          </a:solidFill>
          <a:ln/>
        </p:spPr>
      </p:sp>
      <p:sp>
        <p:nvSpPr>
          <p:cNvPr id="47" name="Shape 45"/>
          <p:cNvSpPr/>
          <p:nvPr/>
        </p:nvSpPr>
        <p:spPr>
          <a:xfrm>
            <a:off x="777240" y="5477256"/>
            <a:ext cx="182880" cy="18288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97280" y="5212080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“My AGENTS.md is being ignored.”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discovery before you debug the content.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400800" y="2011680"/>
            <a:ext cx="5239512" cy="2103120"/>
          </a:xfrm>
          <a:prstGeom prst="roundRect">
            <a:avLst>
              <a:gd name="adj" fmla="val 6087"/>
            </a:avLst>
          </a:prstGeom>
          <a:solidFill>
            <a:srgbClr val="141B3A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629400" y="21488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Belongs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6656832" y="2679192"/>
            <a:ext cx="118872" cy="118872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03720" y="25786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commands: tests, lint, types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6656832" y="3044952"/>
            <a:ext cx="118872" cy="118872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903720" y="294436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 the code doesn't show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656832" y="3410712"/>
            <a:ext cx="118872" cy="118872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903720" y="331012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Folders to leave alone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6656832" y="3776472"/>
            <a:ext cx="118872" cy="118872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3720" y="36758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“done” means here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400800" y="4251960"/>
            <a:ext cx="5239512" cy="1463040"/>
          </a:xfrm>
          <a:prstGeom prst="roundRect">
            <a:avLst>
              <a:gd name="adj" fmla="val 8750"/>
            </a:avLst>
          </a:prstGeom>
          <a:solidFill>
            <a:srgbClr val="141B3A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629400" y="43891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</a:t>
            </a:r>
            <a:endParaRPr lang="en-US" sz="1700" dirty="0"/>
          </a:p>
        </p:txBody>
      </p:sp>
      <p:sp>
        <p:nvSpPr>
          <p:cNvPr id="61" name="Shape 59"/>
          <p:cNvSpPr/>
          <p:nvPr/>
        </p:nvSpPr>
        <p:spPr>
          <a:xfrm>
            <a:off x="6656832" y="4892040"/>
            <a:ext cx="118872" cy="11887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03720" y="48006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copy of your README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6656832" y="5184648"/>
            <a:ext cx="118872" cy="11887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903720" y="50932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whole style guide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6656832" y="5477256"/>
            <a:ext cx="118872" cy="11887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903720" y="538581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 careful”, with nothing to check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7802575" y="5980176"/>
            <a:ext cx="3840480" cy="420624"/>
          </a:xfrm>
          <a:prstGeom prst="roundRect">
            <a:avLst>
              <a:gd name="adj" fmla="val 50000"/>
            </a:avLst>
          </a:prstGeom>
          <a:solidFill>
            <a:srgbClr val="1B2449"/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985455" y="6126480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214055" y="5980176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LIVE DEMO   </a:t>
            </a:r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18841" y="1285506"/>
            <a:ext cx="43968" cy="43968"/>
          </a:xfrm>
          <a:prstGeom prst="ellipse">
            <a:avLst/>
          </a:prstGeom>
          <a:solidFill>
            <a:srgbClr val="FFB547">
              <a:alpha val="4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8115" y="435297"/>
            <a:ext cx="44658" cy="44658"/>
          </a:xfrm>
          <a:prstGeom prst="ellipse">
            <a:avLst/>
          </a:prstGeom>
          <a:solidFill>
            <a:srgbClr val="C8D2E8">
              <a:alpha val="11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27948" y="6251825"/>
            <a:ext cx="56331" cy="56331"/>
          </a:xfrm>
          <a:prstGeom prst="ellipse">
            <a:avLst/>
          </a:prstGeom>
          <a:solidFill>
            <a:srgbClr val="FFB547">
              <a:alpha val="3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82617" y="3669489"/>
            <a:ext cx="37149" cy="37149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47644" y="1658029"/>
            <a:ext cx="23989" cy="23989"/>
          </a:xfrm>
          <a:prstGeom prst="ellipse">
            <a:avLst/>
          </a:prstGeom>
          <a:solidFill>
            <a:srgbClr val="FFB547">
              <a:alpha val="27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85025" y="1434015"/>
            <a:ext cx="36039" cy="36039"/>
          </a:xfrm>
          <a:prstGeom prst="ellipse">
            <a:avLst/>
          </a:prstGeom>
          <a:solidFill>
            <a:srgbClr val="C8D2E8">
              <a:alpha val="2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82589" y="6641472"/>
            <a:ext cx="25944" cy="25944"/>
          </a:xfrm>
          <a:prstGeom prst="ellipse">
            <a:avLst/>
          </a:prstGeom>
          <a:solidFill>
            <a:srgbClr val="C8D2E8">
              <a:alpha val="1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895737" y="6626832"/>
            <a:ext cx="47076" cy="47076"/>
          </a:xfrm>
          <a:prstGeom prst="ellipse">
            <a:avLst/>
          </a:prstGeom>
          <a:solidFill>
            <a:srgbClr val="C8D2E8">
              <a:alpha val="1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188883" y="984289"/>
            <a:ext cx="37002" cy="37002"/>
          </a:xfrm>
          <a:prstGeom prst="ellipse">
            <a:avLst/>
          </a:prstGeom>
          <a:solidFill>
            <a:srgbClr val="FFB547">
              <a:alpha val="13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66119" y="1136650"/>
            <a:ext cx="23523" cy="23523"/>
          </a:xfrm>
          <a:prstGeom prst="ellipse">
            <a:avLst/>
          </a:prstGeom>
          <a:solidFill>
            <a:srgbClr val="C8D2E8">
              <a:alpha val="13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3978" y="3616792"/>
            <a:ext cx="32959" cy="32959"/>
          </a:xfrm>
          <a:prstGeom prst="ellipse">
            <a:avLst/>
          </a:prstGeom>
          <a:solidFill>
            <a:srgbClr val="FFB547">
              <a:alpha val="33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702606" y="1448484"/>
            <a:ext cx="46363" cy="46363"/>
          </a:xfrm>
          <a:prstGeom prst="ellipse">
            <a:avLst/>
          </a:prstGeom>
          <a:solidFill>
            <a:srgbClr val="C8D2E8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917366" y="4424125"/>
            <a:ext cx="26308" cy="26308"/>
          </a:xfrm>
          <a:prstGeom prst="ellipse">
            <a:avLst/>
          </a:prstGeom>
          <a:solidFill>
            <a:srgbClr val="C8D2E8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513052" y="529793"/>
            <a:ext cx="58712" cy="58712"/>
          </a:xfrm>
          <a:prstGeom prst="ellipse">
            <a:avLst/>
          </a:prstGeom>
          <a:solidFill>
            <a:srgbClr val="FFB547">
              <a:alpha val="43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68004" y="6486425"/>
            <a:ext cx="36895" cy="36895"/>
          </a:xfrm>
          <a:prstGeom prst="ellipse">
            <a:avLst/>
          </a:prstGeom>
          <a:solidFill>
            <a:srgbClr val="C8D2E8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381532" y="1068885"/>
            <a:ext cx="30623" cy="30623"/>
          </a:xfrm>
          <a:prstGeom prst="ellipse">
            <a:avLst/>
          </a:prstGeom>
          <a:solidFill>
            <a:srgbClr val="C8D2E8">
              <a:alpha val="2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85277" y="5175078"/>
            <a:ext cx="22554" cy="22554"/>
          </a:xfrm>
          <a:prstGeom prst="ellipse">
            <a:avLst/>
          </a:prstGeom>
          <a:solidFill>
            <a:srgbClr val="C8D2E8">
              <a:alpha val="11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511310" y="1306413"/>
            <a:ext cx="36150" cy="36150"/>
          </a:xfrm>
          <a:prstGeom prst="ellipse">
            <a:avLst/>
          </a:prstGeom>
          <a:solidFill>
            <a:srgbClr val="C8D2E8">
              <a:alpha val="29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337593" y="6494755"/>
            <a:ext cx="39400" cy="39400"/>
          </a:xfrm>
          <a:prstGeom prst="ellipse">
            <a:avLst/>
          </a:prstGeom>
          <a:solidFill>
            <a:srgbClr val="C8D2E8">
              <a:alpha val="31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564373" y="6465200"/>
            <a:ext cx="54910" cy="54910"/>
          </a:xfrm>
          <a:prstGeom prst="ellipse">
            <a:avLst/>
          </a:prstGeom>
          <a:solidFill>
            <a:srgbClr val="C8D2E8">
              <a:alpha val="41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836078" y="208534"/>
            <a:ext cx="54330" cy="54330"/>
          </a:xfrm>
          <a:prstGeom prst="ellipse">
            <a:avLst/>
          </a:prstGeom>
          <a:solidFill>
            <a:srgbClr val="C8D2E8">
              <a:alpha val="40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11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Offload what's slow and well-specified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three surfaces, and a cloud that works in two phases.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2011680"/>
            <a:ext cx="3511296" cy="1783080"/>
          </a:xfrm>
          <a:prstGeom prst="roundRect">
            <a:avLst>
              <a:gd name="adj" fmla="val 7179"/>
            </a:avLst>
          </a:prstGeom>
          <a:solidFill>
            <a:srgbClr val="14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777240" y="2240280"/>
            <a:ext cx="530352" cy="530352"/>
          </a:xfrm>
          <a:prstGeom prst="ellipse">
            <a:avLst/>
          </a:prstGeom>
          <a:solidFill>
            <a:srgbClr val="4FD1A5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22402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D1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444752" y="2313432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and app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2907792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Local. You watch it work.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3218688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work that needs your eyes, local state, or fast iteration.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334256" y="2011680"/>
            <a:ext cx="3511296" cy="1783080"/>
          </a:xfrm>
          <a:prstGeom prst="roundRect">
            <a:avLst>
              <a:gd name="adj" fmla="val 7179"/>
            </a:avLst>
          </a:prstGeom>
          <a:solidFill>
            <a:srgbClr val="141B3A"/>
          </a:solidFill>
          <a:ln/>
        </p:spPr>
      </p:sp>
      <p:sp>
        <p:nvSpPr>
          <p:cNvPr id="33" name="Shape 31"/>
          <p:cNvSpPr/>
          <p:nvPr/>
        </p:nvSpPr>
        <p:spPr>
          <a:xfrm>
            <a:off x="4562856" y="2240280"/>
            <a:ext cx="530352" cy="530352"/>
          </a:xfrm>
          <a:prstGeom prst="ellipse">
            <a:avLst/>
          </a:prstGeom>
          <a:solidFill>
            <a:srgbClr val="A78BFA">
              <a:alpha val="2200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562856" y="22402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230368" y="2313432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tasks</a:t>
            </a:r>
            <a:endParaRPr lang="en-US" sz="1900" dirty="0"/>
          </a:p>
        </p:txBody>
      </p:sp>
      <p:sp>
        <p:nvSpPr>
          <p:cNvPr id="36" name="Text 34"/>
          <p:cNvSpPr txBox="1"/>
          <p:nvPr/>
        </p:nvSpPr>
        <p:spPr>
          <a:xfrm>
            <a:off x="4562856" y="2907792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your machine, several at once.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562856" y="3218688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Offload dependency bumps, test backfill, mechanical refactors.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119872" y="2011680"/>
            <a:ext cx="3511296" cy="1783080"/>
          </a:xfrm>
          <a:prstGeom prst="roundRect">
            <a:avLst>
              <a:gd name="adj" fmla="val 7179"/>
            </a:avLst>
          </a:prstGeom>
          <a:solidFill>
            <a:srgbClr val="141B3A"/>
          </a:solidFill>
          <a:ln/>
        </p:spPr>
      </p:sp>
      <p:sp>
        <p:nvSpPr>
          <p:cNvPr id="39" name="Shape 37"/>
          <p:cNvSpPr/>
          <p:nvPr/>
        </p:nvSpPr>
        <p:spPr>
          <a:xfrm>
            <a:off x="8348472" y="2240280"/>
            <a:ext cx="530352" cy="530352"/>
          </a:xfrm>
          <a:prstGeom prst="ellipse">
            <a:avLst/>
          </a:prstGeom>
          <a:solidFill>
            <a:srgbClr val="C8D2E8">
              <a:alpha val="2200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348472" y="22402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D2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9015984" y="2313432"/>
            <a:ext cx="2459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extension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348472" y="2907792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agent, in your editor.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218688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edits you're steering line by line.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041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TWO-PHASE CLOUD ENVIRONMENT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4389120"/>
            <a:ext cx="4754880" cy="1115568"/>
          </a:xfrm>
          <a:prstGeom prst="roundRect">
            <a:avLst>
              <a:gd name="adj" fmla="val 11475"/>
            </a:avLst>
          </a:prstGeom>
          <a:solidFill>
            <a:srgbClr val="141B3A"/>
          </a:solidFill>
          <a:ln/>
        </p:spPr>
      </p:sp>
      <p:sp>
        <p:nvSpPr>
          <p:cNvPr id="46" name="Shape 44"/>
          <p:cNvSpPr/>
          <p:nvPr/>
        </p:nvSpPr>
        <p:spPr>
          <a:xfrm>
            <a:off x="777240" y="455371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77240" y="45537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SETUP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2148840" y="45171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setup script runs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777240" y="49834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on  ·  Secrets available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486400" y="4690872"/>
            <a:ext cx="1234440" cy="384048"/>
          </a:xfrm>
          <a:prstGeom prst="rightArrow">
            <a:avLst/>
          </a:prstGeom>
          <a:solidFill>
            <a:srgbClr val="2B366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349240" y="51389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removed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885432" y="4389120"/>
            <a:ext cx="4754880" cy="1115568"/>
          </a:xfrm>
          <a:prstGeom prst="roundRect">
            <a:avLst>
              <a:gd name="adj" fmla="val 11475"/>
            </a:avLst>
          </a:prstGeom>
          <a:solidFill>
            <a:srgbClr val="141B3A"/>
          </a:solidFill>
          <a:ln/>
        </p:spPr>
      </p:sp>
      <p:sp>
        <p:nvSpPr>
          <p:cNvPr id="53" name="Shape 51"/>
          <p:cNvSpPr/>
          <p:nvPr/>
        </p:nvSpPr>
        <p:spPr>
          <a:xfrm>
            <a:off x="7114032" y="455371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114032" y="45537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AGENT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8485632" y="45171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task runs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7114032" y="49834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off by default  ·  Env vars remain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66928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dependencies in setup, not in the task.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7802575" y="5980176"/>
            <a:ext cx="3840480" cy="420624"/>
          </a:xfrm>
          <a:prstGeom prst="roundRect">
            <a:avLst>
              <a:gd name="adj" fmla="val 50000"/>
            </a:avLst>
          </a:prstGeom>
          <a:solidFill>
            <a:srgbClr val="1B2449"/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85455" y="6126480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214055" y="5980176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LIVE DEMO   </a:t>
            </a:r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task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53461" y="223613"/>
            <a:ext cx="53954" cy="53954"/>
          </a:xfrm>
          <a:prstGeom prst="ellipse">
            <a:avLst/>
          </a:prstGeom>
          <a:solidFill>
            <a:srgbClr val="C8D2E8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102482" y="6108807"/>
            <a:ext cx="47608" cy="47608"/>
          </a:xfrm>
          <a:prstGeom prst="ellipse">
            <a:avLst/>
          </a:prstGeom>
          <a:solidFill>
            <a:srgbClr val="FFB547">
              <a:alpha val="2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28678" y="1782778"/>
            <a:ext cx="36783" cy="36783"/>
          </a:xfrm>
          <a:prstGeom prst="ellipse">
            <a:avLst/>
          </a:prstGeom>
          <a:solidFill>
            <a:srgbClr val="C8D2E8">
              <a:alpha val="3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366464" y="1107342"/>
            <a:ext cx="22597" cy="22597"/>
          </a:xfrm>
          <a:prstGeom prst="ellipse">
            <a:avLst/>
          </a:prstGeom>
          <a:solidFill>
            <a:srgbClr val="C8D2E8">
              <a:alpha val="3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48126" y="1260786"/>
            <a:ext cx="33830" cy="33830"/>
          </a:xfrm>
          <a:prstGeom prst="ellipse">
            <a:avLst/>
          </a:prstGeom>
          <a:solidFill>
            <a:srgbClr val="FFB547">
              <a:alpha val="43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757650" y="6192801"/>
            <a:ext cx="58878" cy="58878"/>
          </a:xfrm>
          <a:prstGeom prst="ellipse">
            <a:avLst/>
          </a:prstGeom>
          <a:solidFill>
            <a:srgbClr val="C8D2E8">
              <a:alpha val="37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520373" y="5651945"/>
            <a:ext cx="56720" cy="56720"/>
          </a:xfrm>
          <a:prstGeom prst="ellipse">
            <a:avLst/>
          </a:prstGeom>
          <a:solidFill>
            <a:srgbClr val="C8D2E8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853087" y="6393017"/>
            <a:ext cx="46414" cy="46414"/>
          </a:xfrm>
          <a:prstGeom prst="ellipse">
            <a:avLst/>
          </a:prstGeom>
          <a:solidFill>
            <a:srgbClr val="C8D2E8">
              <a:alpha val="1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088120" y="6544448"/>
            <a:ext cx="54186" cy="54186"/>
          </a:xfrm>
          <a:prstGeom prst="ellipse">
            <a:avLst/>
          </a:prstGeom>
          <a:solidFill>
            <a:srgbClr val="C8D2E8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386071" y="581617"/>
            <a:ext cx="38969" cy="38969"/>
          </a:xfrm>
          <a:prstGeom prst="ellipse">
            <a:avLst/>
          </a:prstGeom>
          <a:solidFill>
            <a:srgbClr val="C8D2E8">
              <a:alpha val="4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229694" y="1146970"/>
            <a:ext cx="19250" cy="19250"/>
          </a:xfrm>
          <a:prstGeom prst="ellipse">
            <a:avLst/>
          </a:prstGeom>
          <a:solidFill>
            <a:srgbClr val="C8D2E8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07823" y="1263253"/>
            <a:ext cx="47428" cy="47428"/>
          </a:xfrm>
          <a:prstGeom prst="ellipse">
            <a:avLst/>
          </a:prstGeom>
          <a:solidFill>
            <a:srgbClr val="C8D2E8">
              <a:alpha val="3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62283" y="276983"/>
            <a:ext cx="52259" cy="52259"/>
          </a:xfrm>
          <a:prstGeom prst="ellipse">
            <a:avLst/>
          </a:prstGeom>
          <a:solidFill>
            <a:srgbClr val="C8D2E8">
              <a:alpha val="4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229678" y="943490"/>
            <a:ext cx="35889" cy="35889"/>
          </a:xfrm>
          <a:prstGeom prst="ellipse">
            <a:avLst/>
          </a:prstGeom>
          <a:solidFill>
            <a:srgbClr val="C8D2E8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017887" y="6185860"/>
            <a:ext cx="28613" cy="28613"/>
          </a:xfrm>
          <a:prstGeom prst="ellipse">
            <a:avLst/>
          </a:prstGeom>
          <a:solidFill>
            <a:srgbClr val="C8D2E8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362982" y="465028"/>
            <a:ext cx="44756" cy="44756"/>
          </a:xfrm>
          <a:prstGeom prst="ellipse">
            <a:avLst/>
          </a:prstGeom>
          <a:solidFill>
            <a:srgbClr val="C8D2E8">
              <a:alpha val="2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58691" y="3832584"/>
            <a:ext cx="20495" cy="20495"/>
          </a:xfrm>
          <a:prstGeom prst="ellipse">
            <a:avLst/>
          </a:prstGeom>
          <a:solidFill>
            <a:srgbClr val="C8D2E8">
              <a:alpha val="39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73889" y="5630450"/>
            <a:ext cx="28956" cy="28956"/>
          </a:xfrm>
          <a:prstGeom prst="ellipse">
            <a:avLst/>
          </a:prstGeom>
          <a:solidFill>
            <a:srgbClr val="C8D2E8">
              <a:alpha val="4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147946" y="1749705"/>
            <a:ext cx="39900" cy="39900"/>
          </a:xfrm>
          <a:prstGeom prst="ellipse">
            <a:avLst/>
          </a:prstGeom>
          <a:solidFill>
            <a:srgbClr val="C8D2E8">
              <a:alpha val="2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307981" y="651995"/>
            <a:ext cx="50176" cy="50176"/>
          </a:xfrm>
          <a:prstGeom prst="ellipse">
            <a:avLst/>
          </a:prstGeom>
          <a:solidFill>
            <a:srgbClr val="FFB547">
              <a:alpha val="37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94408" y="6198959"/>
            <a:ext cx="33219" cy="33219"/>
          </a:xfrm>
          <a:prstGeom prst="ellipse">
            <a:avLst/>
          </a:prstGeom>
          <a:solidFill>
            <a:srgbClr val="C8D2E8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347558" y="6405480"/>
            <a:ext cx="57368" cy="57368"/>
          </a:xfrm>
          <a:prstGeom prst="ellipse">
            <a:avLst/>
          </a:prstGeom>
          <a:solidFill>
            <a:srgbClr val="C8D2E8">
              <a:alpha val="1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432509" y="6207788"/>
            <a:ext cx="49216" cy="49216"/>
          </a:xfrm>
          <a:prstGeom prst="ellipse">
            <a:avLst/>
          </a:prstGeom>
          <a:solidFill>
            <a:srgbClr val="C8D2E8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590937" y="296176"/>
            <a:ext cx="52596" cy="52596"/>
          </a:xfrm>
          <a:prstGeom prst="ellipse">
            <a:avLst/>
          </a:prstGeom>
          <a:solidFill>
            <a:srgbClr val="C8D2E8">
              <a:alpha val="41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838629" y="305076"/>
            <a:ext cx="34733" cy="34733"/>
          </a:xfrm>
          <a:prstGeom prst="ellipse">
            <a:avLst/>
          </a:prstGeom>
          <a:solidFill>
            <a:srgbClr val="C8D2E8">
              <a:alpha val="43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569741" y="6123242"/>
            <a:ext cx="41180" cy="41180"/>
          </a:xfrm>
          <a:prstGeom prst="ellipse">
            <a:avLst/>
          </a:prstGeom>
          <a:solidFill>
            <a:srgbClr val="FFB547">
              <a:alpha val="1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896140" y="4608883"/>
            <a:ext cx="21205" cy="21205"/>
          </a:xfrm>
          <a:prstGeom prst="ellipse">
            <a:avLst/>
          </a:prstGeom>
          <a:solidFill>
            <a:srgbClr val="C8D2E8">
              <a:alpha val="3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378122" y="6558911"/>
            <a:ext cx="29607" cy="29607"/>
          </a:xfrm>
          <a:prstGeom prst="ellipse">
            <a:avLst/>
          </a:prstGeom>
          <a:solidFill>
            <a:srgbClr val="C8D2E8">
              <a:alpha val="37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562406" y="1795146"/>
            <a:ext cx="54112" cy="54112"/>
          </a:xfrm>
          <a:prstGeom prst="ellipse">
            <a:avLst/>
          </a:prstGeom>
          <a:solidFill>
            <a:srgbClr val="C8D2E8">
              <a:alpha val="29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78027" y="6574802"/>
            <a:ext cx="41006" cy="41006"/>
          </a:xfrm>
          <a:prstGeom prst="ellipse">
            <a:avLst/>
          </a:prstGeom>
          <a:solidFill>
            <a:srgbClr val="C8D2E8">
              <a:alpha val="36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389109" y="536165"/>
            <a:ext cx="45974" cy="45974"/>
          </a:xfrm>
          <a:prstGeom prst="ellipse">
            <a:avLst/>
          </a:prstGeom>
          <a:solidFill>
            <a:srgbClr val="C8D2E8">
              <a:alpha val="3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942691" y="1174190"/>
            <a:ext cx="59392" cy="59392"/>
          </a:xfrm>
          <a:prstGeom prst="ellipse">
            <a:avLst/>
          </a:prstGeom>
          <a:solidFill>
            <a:srgbClr val="C8D2E8">
              <a:alpha val="2900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11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MODEL LANES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7315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first. Then pick a lane.</a:t>
            </a:r>
            <a:endParaRPr lang="en-US" sz="36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finding critically. Match the model to the task.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548640" y="201168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141B3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77240" y="21671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HUMAN SEES YOUR PR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77240" y="2578608"/>
            <a:ext cx="402336" cy="40233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77240" y="2578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1371600" y="25420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pull request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1371600" y="28437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branch, or from a cloud task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77240" y="3218688"/>
            <a:ext cx="402336" cy="40233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77240" y="3218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1371600" y="31821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@codex review</a:t>
            </a:r>
            <a:endParaRPr lang="en-US" sz="1700" dirty="0"/>
          </a:p>
        </p:txBody>
      </p:sp>
      <p:sp>
        <p:nvSpPr>
          <p:cNvPr id="46" name="Text 44"/>
          <p:cNvSpPr txBox="1"/>
          <p:nvPr/>
        </p:nvSpPr>
        <p:spPr>
          <a:xfrm>
            <a:off x="1371600" y="348386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automatically, or by commenting it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777240" y="3858768"/>
            <a:ext cx="402336" cy="40233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77240" y="3858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1371600" y="382219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critically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1371600" y="41239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findings are wrong; saying so is the skill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77240" y="4498848"/>
            <a:ext cx="402336" cy="40233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7240" y="4498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3" name="Text 51"/>
          <p:cNvSpPr txBox="1"/>
          <p:nvPr/>
        </p:nvSpPr>
        <p:spPr>
          <a:xfrm>
            <a:off x="1371600" y="446227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@codex fix it</a:t>
            </a:r>
            <a:endParaRPr lang="en-US" sz="1700" dirty="0"/>
          </a:p>
        </p:txBody>
      </p:sp>
      <p:sp>
        <p:nvSpPr>
          <p:cNvPr id="54" name="Text 52"/>
          <p:cNvSpPr txBox="1"/>
          <p:nvPr/>
        </p:nvSpPr>
        <p:spPr>
          <a:xfrm>
            <a:off x="1371600" y="47640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for the findings you agree with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217920" y="2011680"/>
            <a:ext cx="5422392" cy="3200400"/>
          </a:xfrm>
          <a:prstGeom prst="roundRect">
            <a:avLst>
              <a:gd name="adj" fmla="val 4000"/>
            </a:avLst>
          </a:prstGeom>
          <a:solidFill>
            <a:srgbClr val="141B3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46520" y="2167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LANES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675120" y="2834640"/>
            <a:ext cx="457200" cy="457200"/>
          </a:xfrm>
          <a:prstGeom prst="ellipse">
            <a:avLst/>
          </a:prstGeom>
          <a:solidFill>
            <a:srgbClr val="C8D2E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263640" y="3675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263640" y="400507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Renames and small edits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891272" y="2734056"/>
            <a:ext cx="658368" cy="65836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580376" y="3675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7580376" y="400507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repository work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8970264" y="2496312"/>
            <a:ext cx="1133856" cy="1133856"/>
          </a:xfrm>
          <a:prstGeom prst="ellipse">
            <a:avLst/>
          </a:prstGeom>
          <a:solidFill>
            <a:srgbClr val="0B1026">
              <a:alpha val="0"/>
            </a:srgbClr>
          </a:solidFill>
          <a:ln w="15875">
            <a:solidFill>
              <a:srgbClr val="FFB547">
                <a:alpha val="45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25712" y="2651760"/>
            <a:ext cx="822960" cy="82296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897112" y="3675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8897112" y="400507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and real ambiguity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 rot="-1080000">
            <a:off x="10305288" y="2898648"/>
            <a:ext cx="1097280" cy="329184"/>
          </a:xfrm>
          <a:prstGeom prst="ellipse">
            <a:avLst/>
          </a:prstGeom>
          <a:solidFill>
            <a:srgbClr val="0B1026">
              <a:alpha val="0"/>
            </a:srgbClr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570464" y="2779776"/>
            <a:ext cx="566928" cy="566928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13848" y="3675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Astra</a:t>
            </a:r>
            <a:endParaRPr lang="en-US" sz="1600" dirty="0"/>
          </a:p>
        </p:txBody>
      </p:sp>
      <p:sp>
        <p:nvSpPr>
          <p:cNvPr id="70" name="Text 68"/>
          <p:cNvSpPr txBox="1"/>
          <p:nvPr/>
        </p:nvSpPr>
        <p:spPr>
          <a:xfrm>
            <a:off x="10213848" y="400507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Long, multi-tool work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446520" y="4681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 switch model and settings together: </a:t>
            </a:r>
            <a:pPr indent="0" marL="0">
              <a:buNone/>
            </a:pPr>
            <a:r>
              <a:rPr lang="en-US" sz="1200" dirty="0">
                <a:solidFill>
                  <a:srgbClr val="C8D2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 -p fast</a:t>
            </a:r>
            <a:pPr indent="0" marL="0">
              <a:buNone/>
            </a:pPr>
            <a:r>
              <a:rPr lang="en-US" sz="1200" dirty="0">
                <a:solidFill>
                  <a:srgbClr val="6F7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Check your picker; availability changes.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548640" y="544068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8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is blast radius. Approval is interruptions. Configure the leash once.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7802575" y="5980176"/>
            <a:ext cx="3840480" cy="420624"/>
          </a:xfrm>
          <a:prstGeom prst="roundRect">
            <a:avLst>
              <a:gd name="adj" fmla="val 50000"/>
            </a:avLst>
          </a:prstGeom>
          <a:solidFill>
            <a:srgbClr val="1B2449"/>
          </a:solidFill>
          <a:ln w="12700">
            <a:solidFill>
              <a:srgbClr val="4FD1A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985455" y="6126480"/>
            <a:ext cx="128016" cy="128016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214055" y="5980176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LIVE DEMO   </a:t>
            </a:r>
            <a:pPr indent="0" marL="0">
              <a:buNone/>
            </a:pPr>
            <a:r>
              <a:rPr lang="en-US" sz="1300" dirty="0">
                <a:solidFill>
                  <a:srgbClr val="F3F5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the fast lane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Nine Ways to Run an Agent</dc:title>
  <dc:subject>PptxGenJS Presentation</dc:subject>
  <dc:creator>Cem Macabales</dc:creator>
  <cp:lastModifiedBy>Cem Macabales</cp:lastModifiedBy>
  <cp:revision>1</cp:revision>
  <dcterms:created xsi:type="dcterms:W3CDTF">2026-09-13T04:44:13Z</dcterms:created>
  <dcterms:modified xsi:type="dcterms:W3CDTF">2026-09-13T04:44:13Z</dcterms:modified>
</cp:coreProperties>
</file>